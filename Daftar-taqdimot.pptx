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rish" id="{651e4321-55ef-42de-a837-2328389282d3}">
          <p14:sldIdLst>
            <p14:sldId id="256"/>
            <p14:sldId id="257"/>
            <p14:sldId id="258"/>
          </p14:sldIdLst>
        </p14:section>
        <p14:section name="Kim nima qiladi" id="{a49cc283-f894-dead-a048-05714c3522f9}">
          <p14:sldIdLst>
            <p14:sldId id="259"/>
          </p14:sldIdLst>
        </p14:section>
        <p14:section name="Oylik ish" id="{3e9837d4-7ab1-de2d-57ec-bf0daecefe32}">
          <p14:sldIdLst>
            <p14:sldId id="260"/>
            <p14:sldId id="261"/>
            <p14:sldId id="262"/>
            <p14:sldId id="263"/>
          </p14:sldIdLst>
        </p14:section>
        <p14:section name="Pul" id="{48319093-3b8b-2e6d-c941-2b64bf117e8b}">
          <p14:sldIdLst>
            <p14:sldId id="264"/>
            <p14:sldId id="265"/>
            <p14:sldId id="266"/>
            <p14:sldId id="267"/>
          </p14:sldIdLst>
        </p14:section>
        <p14:section name="Ota-onalar va tarmoq" id="{e1bdded5-139d-08a0-2612-ad41c6ea2c2b}">
          <p14:sldIdLst>
            <p14:sldId id="268"/>
            <p14:sldId id="269"/>
            <p14:sldId id="270"/>
          </p14:sldIdLst>
        </p14:section>
        <p14:section name="Boshlash" id="{01699bcc-3f3a-d05f-79f5-b2964f31872e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Salomlashamiz. Daftar — bog'chaning moliyasini yuritadigan tizim. Bugun 15 daqiqada uning qanday ishlashini oddiy misollar bilan ko'rsatamiz. Batafsil tushuntirish saytda 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Bugun ko'p bog'chalarda qarz daftarda yoki Excel'da yuritiladi. Daftar shu ishlarni o'zi bajaradi va har bir so'mning tarixini saqlaydi.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Butun tizim shu uch qadamdan iborat: pul kiradi, qayerdadir turadi, va faqat tasdiq bilan chiqadi. Qolgan hamma narsa — shu uch qadamning tafsilotlari.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xodim o'z roli bilan kiradi va faqat o'z ishiga kerakli narsani ko'radi. Bolalarning ismi va ota-onalarning telefoni faqat direktor va buxgalterga ko'rinadi. Eng muhim qoida — pul doim ikki xil odam qo'lidan o'tadi.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oy bir xil tartibda o'tadi. Oy boshida buxgalter bitta tugmani bosadi — hamma bolaga to'lov hisoblanadi. Oy davomida to'lovlar keladi, eslatmalar o'zi ketadi. Oy oxirida buxgalter yopishni boshlaydi, direktor tasdiqlaydi.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Narx bolaga emas, guruhga belgilanadi. Chegirmalar foizda qo'shiladi: 15 va 10 — bu 25 foiz, ota-ona kutgandek. Summa oxirida bir marta, so'mgacha pastga yaxlitlanadi. Jarima hech qachon qo'shilmaydi.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Bolalar keldi deb hisoblanadi, faqat kelmagan kunlar yoziladi. Sababli kunlar uchun pul keyingi oyda ayiriladi, joriy oyning summasi o'zgarmaydi. Bu bog'chaga yo'qotilgan daromadni ko'rsatadi.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To'lov doim eng eski qarzdan boshlab yopiladi. Qarz har doim qaysi oy uchun ekani bilan ko'rinadi — oktabrdan qolgan qarz noyabrga qo'shilib ketmaydi.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 to'rt yo'l bilan keladi. Qaysi yo'l bo'lmasin, u bir xil qoida bilan qarzlarga yoziladi. Click to'lovi aniqlab bo'lmasa, «Kutilayotgan to'lovlar»da turadi — pul hech qachon taxmin bilan yozilmaydi.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Zayavkasiz bir so'm ham chiqmaydi. Tizim zayavkani byudjet bilan solishtiradi. Direktor o'z limiti doirasida tasdiqlaydi, kattasi bosh boshqaruvchiga o'tadi. Kassir faqat tasdiqlangan summani to'laydi.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Byudjet — yillik reja, oyma-oy va xarajat turlari bo'yicha. 80 foizdan oshsa ogohlantiradi, 100 foizdan oshsa to'xtatadi. Direktor o'z blokini o'zi ocha olmaydi — bu cheklovning ma'nosi.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Moliyada eng muhimi — tarixga ishonch. Xato o'chirilmaydi, uni bekor qiluvchi yozuv — storno — tuzatadi. Yopilgan oy esa umuman o'zgarmaydi.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Ota-onalar Telegramda yashaydi. Bog'changizning boti ichida kichik ilova ochiladi: qancha qarz, nima to'langan — va shu yerdan Click orqali to'lash. Endi «qancha qarzim bor» deb qo'ng'iroq qilish shart emas. Direktor ham shu botdan qarzlarni ko'radi, lekin Telegram orqali hech narsani o'zgartira olmaydi.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Agar bir nechta bog'changiz bo'lsa, har biri alohida ishlaydi va bir-birining ma'lumotini ko'rmaydi. Rahbar esa hammasini bitta «Tarmoq» sahifasida ko'radi. Raqamlar bir necha soniyada yangilanadi.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Kirish shaxsiy parol bilan. Har bir harakat kim qilgani bilan yoziladi. Baza uzluksiz zaxiralanadi va har hafta tiklash sinab ko'riladi.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O'tish bir necha kunda bo'ladi. Eng ko'p vaqt oladigani — bolalar ro'yxati, uni Excel shablon orqali bir martada yuklaymiz. Har bir sahifada yordam matni va «Qo'llanma» bo'limi 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Savollarga javob beramiz. Saytda to'lov kalkulyatori bor — raqamlarni o'zingiz kiritib ko'rishingiz mumkin.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Daftar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Bog'changiz pulining daftari: kim qancha to'lagani, qancha qarzi borligi va pul nimaga sarflangani bir joyda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shaykhnazar.github.io/daftar-qollanma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Bugun qanday, Daftar bilan qanday</a:t>
            </a:r>
            <a:endParaRPr lang="en-US" sz="3600" dirty="0"/>
          </a:p>
        </p:txBody>
      </p:sp>
      <p:sp>
        <p:nvSpPr>
          <p:cNvPr id="3" name="before card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AEDEA"/>
          </a:solidFill>
          <a:ln w="12700">
            <a:solidFill>
              <a:srgbClr val="FAEDEA"/>
            </a:solidFill>
            <a:prstDash val="solid"/>
          </a:ln>
        </p:spPr>
      </p:sp>
      <p:sp>
        <p:nvSpPr>
          <p:cNvPr id="4" name="after card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Hozir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bilan</a:t>
            </a:r>
            <a:endParaRPr lang="en-US" sz="2200" dirty="0"/>
          </a:p>
        </p:txBody>
      </p:sp>
      <p:pic>
        <p:nvPicPr>
          <p:cNvPr id="7" name="before mark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3591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Qarzlar daftar yoki Excel'da, qo'lda hisoblanadi</a:t>
            </a:r>
            <a:endParaRPr lang="en-US" sz="1600" dirty="0"/>
          </a:p>
        </p:txBody>
      </p:sp>
      <p:pic>
        <p:nvPicPr>
          <p:cNvPr id="9" name="before mar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632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30449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Ota-ona «qancha qarzim bor?» deb qo'ng'iroq qiladi</a:t>
            </a:r>
            <a:endParaRPr lang="en-US" sz="1600" dirty="0"/>
          </a:p>
        </p:txBody>
      </p:sp>
      <p:pic>
        <p:nvPicPr>
          <p:cNvPr id="11" name="before mar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4904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7307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Xarajat og'zaki kelishuv bilan chiqadi</a:t>
            </a:r>
            <a:endParaRPr lang="en-US" sz="1600" dirty="0"/>
          </a:p>
        </p:txBody>
      </p:sp>
      <p:pic>
        <p:nvPicPr>
          <p:cNvPr id="13" name="before mar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3484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416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Xato to'lov o'chiriladi — izi qolmaydi</a:t>
            </a:r>
            <a:endParaRPr lang="en-US" sz="1600" dirty="0"/>
          </a:p>
        </p:txBody>
      </p:sp>
      <p:pic>
        <p:nvPicPr>
          <p:cNvPr id="15" name="before mark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2064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25880" y="51023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Oy oxirida hisobot uchun kunlab o'tiriladi</a:t>
            </a:r>
            <a:endParaRPr lang="en-US" sz="1600" dirty="0"/>
          </a:p>
        </p:txBody>
      </p:sp>
      <p:pic>
        <p:nvPicPr>
          <p:cNvPr id="17" name="after mark 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377440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040880" y="23591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Har oy to'lov o'zi hisoblanadi, chegirmalar bilan</a:t>
            </a:r>
            <a:endParaRPr lang="en-US" sz="1600" dirty="0"/>
          </a:p>
        </p:txBody>
      </p:sp>
      <p:pic>
        <p:nvPicPr>
          <p:cNvPr id="19" name="after mark 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063240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040880" y="30449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Ota-ona qarzini Telegramda ko'radi, Click bilan to'laydi</a:t>
            </a:r>
            <a:endParaRPr lang="en-US" sz="1600" dirty="0"/>
          </a:p>
        </p:txBody>
      </p:sp>
      <p:pic>
        <p:nvPicPr>
          <p:cNvPr id="21" name="after mark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749040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040880" y="37307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Har bir xarajat zayavka va tasdiq bilan</a:t>
            </a:r>
            <a:endParaRPr lang="en-US" sz="1600" dirty="0"/>
          </a:p>
        </p:txBody>
      </p:sp>
      <p:pic>
        <p:nvPicPr>
          <p:cNvPr id="23" name="after mark 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434840"/>
            <a:ext cx="292608" cy="292608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040880" y="4416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Xato storno bilan tuzatiladi — tarix to'liq</a:t>
            </a:r>
            <a:endParaRPr lang="en-US" sz="1600" dirty="0"/>
          </a:p>
        </p:txBody>
      </p:sp>
      <p:pic>
        <p:nvPicPr>
          <p:cNvPr id="25" name="after mark 4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5120640"/>
            <a:ext cx="292608" cy="292608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040880" y="51023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Hisobot bir tugma bilan Excel yoki PDF'da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Pul qanday aylanadi</a:t>
            </a:r>
            <a:endParaRPr lang="en-US" sz="3600" dirty="0"/>
          </a:p>
        </p:txBody>
      </p:sp>
      <p:sp>
        <p:nvSpPr>
          <p:cNvPr id="3" name="flow card 0"/>
          <p:cNvSpPr/>
          <p:nvPr/>
        </p:nvSpPr>
        <p:spPr>
          <a:xfrm>
            <a:off x="548640" y="1463040"/>
            <a:ext cx="3291840" cy="42062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ow 0 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flow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1. Pul kiradi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Ota-onalar va homiylar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Kassaga naqd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Click orqali telefondan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Bank o'tkazmasi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Homiylik, grant, subsidiya</a:t>
            </a:r>
            <a:endParaRPr lang="en-US" sz="1500" dirty="0"/>
          </a:p>
        </p:txBody>
      </p:sp>
      <p:sp>
        <p:nvSpPr>
          <p:cNvPr id="9" name="flow arrow 0"/>
          <p:cNvSpPr/>
          <p:nvPr/>
        </p:nvSpPr>
        <p:spPr>
          <a:xfrm>
            <a:off x="3913632" y="3291840"/>
            <a:ext cx="502920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flow card 1"/>
          <p:cNvSpPr/>
          <p:nvPr/>
        </p:nvSpPr>
        <p:spPr>
          <a:xfrm>
            <a:off x="4480560" y="1463040"/>
            <a:ext cx="3291840" cy="42062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flow 1 circle"/>
          <p:cNvSpPr/>
          <p:nvPr/>
        </p:nvSpPr>
        <p:spPr>
          <a:xfrm>
            <a:off x="4754880" y="169164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flow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814" y="18525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5488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2. Pul turadi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Kassa va bank hisoblari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754880" y="36118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Qoldiq doim ko'rinadi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Har to'lov qaysi hisobga tushgani yoziladi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Kassa minusga tushmaydi</a:t>
            </a:r>
            <a:endParaRPr lang="en-US" sz="1500" dirty="0"/>
          </a:p>
        </p:txBody>
      </p:sp>
      <p:sp>
        <p:nvSpPr>
          <p:cNvPr id="16" name="flow arrow 1"/>
          <p:cNvSpPr/>
          <p:nvPr/>
        </p:nvSpPr>
        <p:spPr>
          <a:xfrm>
            <a:off x="7845552" y="3291840"/>
            <a:ext cx="502920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flow card 2"/>
          <p:cNvSpPr/>
          <p:nvPr/>
        </p:nvSpPr>
        <p:spPr>
          <a:xfrm>
            <a:off x="8412480" y="1463040"/>
            <a:ext cx="3291840" cy="42062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flow 2 circle"/>
          <p:cNvSpPr/>
          <p:nvPr/>
        </p:nvSpPr>
        <p:spPr>
          <a:xfrm>
            <a:off x="8686800" y="169164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9" name="flow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4" y="1852574"/>
            <a:ext cx="409651" cy="4096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68680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3. Pul chiqadi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68680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Faqat tasdiq bilan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686800" y="36118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Buxgalter zayavka tuzadi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Direktor tasdiqlaydi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Kassir to'laydi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5"/>
                </a:solidFill>
              </a:rPr>
              <a:t>Byudjet bilan solishtiriladi</a:t>
            </a:r>
            <a:endParaRPr lang="en-US" sz="1500" dirty="0"/>
          </a:p>
        </p:txBody>
      </p:sp>
      <p:sp>
        <p:nvSpPr>
          <p:cNvPr id="23" name="flow foot"/>
          <p:cNvSpPr/>
          <p:nvPr/>
        </p:nvSpPr>
        <p:spPr>
          <a:xfrm>
            <a:off x="548640" y="5806440"/>
            <a:ext cx="11064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Hammasi avtomatik ravishda hisobotlarga tushadi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Har kimning o'z vazifasi bor</a:t>
            </a:r>
            <a:endParaRPr lang="en-US" sz="3600" dirty="0"/>
          </a:p>
        </p:txBody>
      </p:sp>
      <p:sp>
        <p:nvSpPr>
          <p:cNvPr id="3" name="role card 0"/>
          <p:cNvSpPr/>
          <p:nvPr/>
        </p:nvSpPr>
        <p:spPr>
          <a:xfrm>
            <a:off x="548640" y="146304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ole 0 circle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role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8425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37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Direktor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2128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Narx belgilaydi, xarajatni tasdiqlaydi, oyni yopishni tasdiqlaydi</a:t>
            </a:r>
            <a:endParaRPr lang="en-US" sz="1400" dirty="0"/>
          </a:p>
        </p:txBody>
      </p:sp>
      <p:sp>
        <p:nvSpPr>
          <p:cNvPr id="8" name="role card 1"/>
          <p:cNvSpPr/>
          <p:nvPr/>
        </p:nvSpPr>
        <p:spPr>
          <a:xfrm>
            <a:off x="4297680" y="146304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ole 1 circle"/>
          <p:cNvSpPr/>
          <p:nvPr/>
        </p:nvSpPr>
        <p:spPr>
          <a:xfrm>
            <a:off x="4526280" y="169164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0" name="rol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18425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737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Buxgalter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22128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To'lov qabul qiladi, oylik hisobni yuritadi, zayavka tuzadi</a:t>
            </a:r>
            <a:endParaRPr lang="en-US" sz="1400" dirty="0"/>
          </a:p>
        </p:txBody>
      </p:sp>
      <p:sp>
        <p:nvSpPr>
          <p:cNvPr id="13" name="role card 2"/>
          <p:cNvSpPr/>
          <p:nvPr/>
        </p:nvSpPr>
        <p:spPr>
          <a:xfrm>
            <a:off x="8046720" y="146304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ole 2 circle"/>
          <p:cNvSpPr/>
          <p:nvPr/>
        </p:nvSpPr>
        <p:spPr>
          <a:xfrm>
            <a:off x="8275320" y="169164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rol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184251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737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Kassir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0" y="221284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Tasdiqlangan zayavka bo'yicha pulni beradi</a:t>
            </a:r>
            <a:endParaRPr lang="en-US" sz="1400" dirty="0"/>
          </a:p>
        </p:txBody>
      </p:sp>
      <p:sp>
        <p:nvSpPr>
          <p:cNvPr id="18" name="role card 3"/>
          <p:cNvSpPr/>
          <p:nvPr/>
        </p:nvSpPr>
        <p:spPr>
          <a:xfrm>
            <a:off x="548640" y="338328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ole 3 circle"/>
          <p:cNvSpPr/>
          <p:nvPr/>
        </p:nvSpPr>
        <p:spPr>
          <a:xfrm>
            <a:off x="777240" y="361188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0" name="rol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376275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 boshqaruvchi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1645920" y="41330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Barcha bog'chalarni ko'radi, byudjetni tasdiqlaydi</a:t>
            </a:r>
            <a:endParaRPr lang="en-US" sz="1400" dirty="0"/>
          </a:p>
        </p:txBody>
      </p:sp>
      <p:sp>
        <p:nvSpPr>
          <p:cNvPr id="23" name="role card 4"/>
          <p:cNvSpPr/>
          <p:nvPr/>
        </p:nvSpPr>
        <p:spPr>
          <a:xfrm>
            <a:off x="4297680" y="338328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role 4 circle"/>
          <p:cNvSpPr/>
          <p:nvPr/>
        </p:nvSpPr>
        <p:spPr>
          <a:xfrm>
            <a:off x="4526280" y="361188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5" name="role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62756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5394960" y="41330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Tizimni sozlaydi, pul raqamlarini ko'rmaydi</a:t>
            </a:r>
            <a:endParaRPr lang="en-US" sz="1400" dirty="0"/>
          </a:p>
        </p:txBody>
      </p:sp>
      <p:sp>
        <p:nvSpPr>
          <p:cNvPr id="28" name="role card 5"/>
          <p:cNvSpPr/>
          <p:nvPr/>
        </p:nvSpPr>
        <p:spPr>
          <a:xfrm>
            <a:off x="8046720" y="338328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role 5 circle"/>
          <p:cNvSpPr/>
          <p:nvPr/>
        </p:nvSpPr>
        <p:spPr>
          <a:xfrm>
            <a:off x="8275320" y="361188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0" name="role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196" y="376275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Ota-ona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9144000" y="41330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Telegramda qarzini ko'radi va Click bilan to'laydi</a:t>
            </a:r>
            <a:endParaRPr lang="en-US" sz="1400" dirty="0"/>
          </a:p>
        </p:txBody>
      </p:sp>
      <p:sp>
        <p:nvSpPr>
          <p:cNvPr id="33" name="rule card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Asosiy qoida: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zayavka tuzgan odam uni tasdiqlay olmaydi, tasdiqlagan odam esa to'lay olmaydi. Pul doim ikki xil odam qo'lidan o'tadi.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Bir oy qanday o'tadi</a:t>
            </a:r>
            <a:endParaRPr lang="en-US" sz="3600" dirty="0"/>
          </a:p>
        </p:txBody>
      </p:sp>
      <p:sp>
        <p:nvSpPr>
          <p:cNvPr id="3" name="timeline line"/>
          <p:cNvSpPr/>
          <p:nvPr/>
        </p:nvSpPr>
        <p:spPr>
          <a:xfrm>
            <a:off x="1280160" y="2331720"/>
            <a:ext cx="969264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4" name="timeline dot 0"/>
          <p:cNvSpPr/>
          <p:nvPr/>
        </p:nvSpPr>
        <p:spPr>
          <a:xfrm>
            <a:off x="1115568" y="1984248"/>
            <a:ext cx="694944" cy="6949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Oy boshi</a:t>
            </a:r>
            <a:endParaRPr lang="en-US" sz="1300" dirty="0"/>
          </a:p>
        </p:txBody>
      </p:sp>
      <p:sp>
        <p:nvSpPr>
          <p:cNvPr id="7" name="timeline card 0"/>
          <p:cNvSpPr/>
          <p:nvPr/>
        </p:nvSpPr>
        <p:spPr>
          <a:xfrm>
            <a:off x="548640" y="301752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Oylik hisob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490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Har bir bolaga guruh narxi bo'yicha to'lov hisoblanadi</a:t>
            </a:r>
            <a:endParaRPr lang="en-US" sz="1400" dirty="0"/>
          </a:p>
        </p:txBody>
      </p:sp>
      <p:sp>
        <p:nvSpPr>
          <p:cNvPr id="10" name="timeline dot 1"/>
          <p:cNvSpPr/>
          <p:nvPr/>
        </p:nvSpPr>
        <p:spPr>
          <a:xfrm>
            <a:off x="3383280" y="1984248"/>
            <a:ext cx="694944" cy="6949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Har kuni</a:t>
            </a:r>
            <a:endParaRPr lang="en-US" sz="1300" dirty="0"/>
          </a:p>
        </p:txBody>
      </p:sp>
      <p:sp>
        <p:nvSpPr>
          <p:cNvPr id="13" name="timeline card 1"/>
          <p:cNvSpPr/>
          <p:nvPr/>
        </p:nvSpPr>
        <p:spPr>
          <a:xfrm>
            <a:off x="2816352" y="301752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9232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To'lovlar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37490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Naqd, Click yoki bank orqali — kvitansiya chiqadi</a:t>
            </a:r>
            <a:endParaRPr lang="en-US" sz="1400" dirty="0"/>
          </a:p>
        </p:txBody>
      </p:sp>
      <p:sp>
        <p:nvSpPr>
          <p:cNvPr id="16" name="timeline dot 2"/>
          <p:cNvSpPr/>
          <p:nvPr/>
        </p:nvSpPr>
        <p:spPr>
          <a:xfrm>
            <a:off x="5650992" y="1984248"/>
            <a:ext cx="694944" cy="6949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50992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4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Har kuni</a:t>
            </a:r>
            <a:endParaRPr lang="en-US" sz="1300" dirty="0"/>
          </a:p>
        </p:txBody>
      </p:sp>
      <p:sp>
        <p:nvSpPr>
          <p:cNvPr id="19" name="timeline card 2"/>
          <p:cNvSpPr/>
          <p:nvPr/>
        </p:nvSpPr>
        <p:spPr>
          <a:xfrm>
            <a:off x="5084064" y="301752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6944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Davomat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266944" y="37490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Faqat kelmagan kunlar yoziladi</a:t>
            </a:r>
            <a:endParaRPr lang="en-US" sz="1400" dirty="0"/>
          </a:p>
        </p:txBody>
      </p:sp>
      <p:sp>
        <p:nvSpPr>
          <p:cNvPr id="22" name="timeline dot 3"/>
          <p:cNvSpPr/>
          <p:nvPr/>
        </p:nvSpPr>
        <p:spPr>
          <a:xfrm>
            <a:off x="7918704" y="1984248"/>
            <a:ext cx="694944" cy="6949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18704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351776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Belgilangan kunlar</a:t>
            </a:r>
            <a:endParaRPr lang="en-US" sz="1300" dirty="0"/>
          </a:p>
        </p:txBody>
      </p:sp>
      <p:sp>
        <p:nvSpPr>
          <p:cNvPr id="25" name="timeline card 3"/>
          <p:cNvSpPr/>
          <p:nvPr/>
        </p:nvSpPr>
        <p:spPr>
          <a:xfrm>
            <a:off x="7351776" y="301752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34656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Eslatmalar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534656" y="37490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Qarzi borlarga Telegram yoki SMS</a:t>
            </a:r>
            <a:endParaRPr lang="en-US" sz="1400" dirty="0"/>
          </a:p>
        </p:txBody>
      </p:sp>
      <p:sp>
        <p:nvSpPr>
          <p:cNvPr id="28" name="timeline dot 4"/>
          <p:cNvSpPr/>
          <p:nvPr/>
        </p:nvSpPr>
        <p:spPr>
          <a:xfrm>
            <a:off x="10186416" y="1984248"/>
            <a:ext cx="694944" cy="69494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86416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619488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Oy oxiri</a:t>
            </a:r>
            <a:endParaRPr lang="en-US" sz="1300" dirty="0"/>
          </a:p>
        </p:txBody>
      </p:sp>
      <p:sp>
        <p:nvSpPr>
          <p:cNvPr id="31" name="timeline card 4"/>
          <p:cNvSpPr/>
          <p:nvPr/>
        </p:nvSpPr>
        <p:spPr>
          <a:xfrm>
            <a:off x="9619488" y="3017520"/>
            <a:ext cx="182880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02368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Oy yopiladi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802368" y="374904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Hisobot muzlatiladi, endi o'zgarmaydi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Ochiq oy uchun hisobot joriy holatda, yopilgan oy uchun esa yopilgan kundagidek ko'rsatiladi.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Oylik to'lov qanday hisoblanadi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Misol: guruh narxi 1 500 000 so'm, aka-uka chegirmasi 15%, tavsiya chegirmasi 10%, qo'shimcha 200 000 so'm chegirma</a:t>
            </a:r>
            <a:endParaRPr lang="en-US" sz="1600" dirty="0"/>
          </a:p>
        </p:txBody>
      </p:sp>
      <p:sp>
        <p:nvSpPr>
          <p:cNvPr id="4" name="calc step 0"/>
          <p:cNvSpPr/>
          <p:nvPr/>
        </p:nvSpPr>
        <p:spPr>
          <a:xfrm>
            <a:off x="548640" y="2011680"/>
            <a:ext cx="24231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1 500 000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Guruh narxi</a:t>
            </a:r>
            <a:endParaRPr lang="en-US" sz="1400" dirty="0"/>
          </a:p>
        </p:txBody>
      </p:sp>
      <p:sp>
        <p:nvSpPr>
          <p:cNvPr id="7" name="calc arrow 0"/>
          <p:cNvSpPr/>
          <p:nvPr/>
        </p:nvSpPr>
        <p:spPr>
          <a:xfrm>
            <a:off x="3017520" y="2679192"/>
            <a:ext cx="320040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lc step 1"/>
          <p:cNvSpPr/>
          <p:nvPr/>
        </p:nvSpPr>
        <p:spPr>
          <a:xfrm>
            <a:off x="3383280" y="201168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FAEDEA"/>
          </a:solidFill>
          <a:ln w="12700">
            <a:solidFill>
              <a:srgbClr val="FAED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194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− 25%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063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15% + 10% qo'shiladi</a:t>
            </a:r>
            <a:endParaRPr lang="en-US" sz="1400" dirty="0"/>
          </a:p>
        </p:txBody>
      </p:sp>
      <p:sp>
        <p:nvSpPr>
          <p:cNvPr id="11" name="calc arrow 1"/>
          <p:cNvSpPr/>
          <p:nvPr/>
        </p:nvSpPr>
        <p:spPr>
          <a:xfrm>
            <a:off x="5852160" y="2679192"/>
            <a:ext cx="320040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calc step 2"/>
          <p:cNvSpPr/>
          <p:nvPr/>
        </p:nvSpPr>
        <p:spPr>
          <a:xfrm>
            <a:off x="6217920" y="2011680"/>
            <a:ext cx="2423160" cy="1737360"/>
          </a:xfrm>
          <a:prstGeom prst="roundRect">
            <a:avLst>
              <a:gd name="adj" fmla="val 6316"/>
            </a:avLst>
          </a:prstGeom>
          <a:solidFill>
            <a:srgbClr val="FAEDEA"/>
          </a:solidFill>
          <a:ln w="12700">
            <a:solidFill>
              <a:srgbClr val="FAED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194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− 200 000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063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So'mli chegirma</a:t>
            </a:r>
            <a:endParaRPr lang="en-US" sz="1400" dirty="0"/>
          </a:p>
        </p:txBody>
      </p:sp>
      <p:sp>
        <p:nvSpPr>
          <p:cNvPr id="15" name="calc arrow 2"/>
          <p:cNvSpPr/>
          <p:nvPr/>
        </p:nvSpPr>
        <p:spPr>
          <a:xfrm>
            <a:off x="8686800" y="2679192"/>
            <a:ext cx="320040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calc step 3"/>
          <p:cNvSpPr/>
          <p:nvPr/>
        </p:nvSpPr>
        <p:spPr>
          <a:xfrm>
            <a:off x="9052560" y="2011680"/>
            <a:ext cx="242316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0" y="21945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925 000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0632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Shu oy to'lovi, so'm</a:t>
            </a:r>
            <a:endParaRPr lang="en-US" sz="1400" dirty="0"/>
          </a:p>
        </p:txBody>
      </p:sp>
      <p:pic>
        <p:nvPicPr>
          <p:cNvPr id="19" name="rule mark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05840" y="4114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Foizlar qo'shiladi.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15% va 10% = 25%. Jami 50% dan oshmaydi.</a:t>
            </a:r>
            <a:endParaRPr lang="en-US" sz="1600" dirty="0"/>
          </a:p>
        </p:txBody>
      </p:sp>
      <p:pic>
        <p:nvPicPr>
          <p:cNvPr id="21" name="rule mar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16052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629400" y="4114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Jarima yo'q.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Kechikkan to'lovga foiz yoki jarima qo'shilmaydi.</a:t>
            </a:r>
            <a:endParaRPr lang="en-US" sz="1600" dirty="0"/>
          </a:p>
        </p:txBody>
      </p:sp>
      <p:pic>
        <p:nvPicPr>
          <p:cNvPr id="23" name="rule mar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206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05840" y="5074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Oy o'rtasida kelsa.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Faqat qolgan ish kunlari uchun hisoblanadi.</a:t>
            </a:r>
            <a:endParaRPr lang="en-US" sz="1600" dirty="0"/>
          </a:p>
        </p:txBody>
      </p:sp>
      <p:pic>
        <p:nvPicPr>
          <p:cNvPr id="25" name="rule mar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12064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629400" y="5074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Ketsa.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14 kun oldin aytilmasa, butun oy hisoblanadi.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Bola sababli kelmasa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Misol: narx 1 500 000 so'm, oyda 20 ish kuni, bola 3 kun kasal bo'ldi. Direktor bu kunlarni «sababli» deb tasdiqladi.</a:t>
            </a:r>
            <a:endParaRPr lang="en-US" sz="1600" dirty="0"/>
          </a:p>
        </p:txBody>
      </p:sp>
      <p:sp>
        <p:nvSpPr>
          <p:cNvPr id="4" name="this month"/>
          <p:cNvSpPr/>
          <p:nvPr/>
        </p:nvSpPr>
        <p:spPr>
          <a:xfrm>
            <a:off x="548640" y="2103120"/>
            <a:ext cx="49377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Noyabr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1 500 000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Shu oyning to'lovi o'zgarmaydi</a:t>
            </a:r>
            <a:endParaRPr lang="en-US" sz="1600" dirty="0"/>
          </a:p>
        </p:txBody>
      </p:sp>
      <p:sp>
        <p:nvSpPr>
          <p:cNvPr id="8" name="credit arrow"/>
          <p:cNvSpPr/>
          <p:nvPr/>
        </p:nvSpPr>
        <p:spPr>
          <a:xfrm>
            <a:off x="5669280" y="3246120"/>
            <a:ext cx="822960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next month"/>
          <p:cNvSpPr/>
          <p:nvPr/>
        </p:nvSpPr>
        <p:spPr>
          <a:xfrm>
            <a:off x="6675120" y="2103120"/>
            <a:ext cx="4937760" cy="27432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Dekabr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7889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− 225 000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3749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1 500 000 ÷ 20 × 3 kun keyingi oy to'lovidan ayiriladi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Nega shunday?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Shunda bog'cha kasallik sababli qancha daromaddan voz kechgani hisobotda aniq ko'rinadi. Faqat direktor «sababli» deb belgilaydi va faqat oy yopilguncha.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To'lov qaysi qarzga yoziladi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Ota-onaning qarzi: oktabr — 800 000, noyabr — 1 500 000. U 2 000 000 so'm olib keldi.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Oktabr</a:t>
            </a:r>
            <a:endParaRPr lang="en-US" sz="2000" dirty="0"/>
          </a:p>
        </p:txBody>
      </p:sp>
      <p:sp>
        <p:nvSpPr>
          <p:cNvPr id="5" name="debt 0"/>
          <p:cNvSpPr/>
          <p:nvPr/>
        </p:nvSpPr>
        <p:spPr>
          <a:xfrm>
            <a:off x="2194560" y="2240280"/>
            <a:ext cx="3901440" cy="731520"/>
          </a:xfrm>
          <a:prstGeom prst="rect">
            <a:avLst/>
          </a:prstGeom>
          <a:solidFill>
            <a:srgbClr val="FAEDEA"/>
          </a:solidFill>
          <a:ln w="12700">
            <a:solidFill>
              <a:srgbClr val="FAEDEA"/>
            </a:solidFill>
            <a:prstDash val="solid"/>
          </a:ln>
        </p:spPr>
      </p:sp>
      <p:sp>
        <p:nvSpPr>
          <p:cNvPr id="6" name="paid 0"/>
          <p:cNvSpPr/>
          <p:nvPr/>
        </p:nvSpPr>
        <p:spPr>
          <a:xfrm>
            <a:off x="2194560" y="2240280"/>
            <a:ext cx="390144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2240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800 000 yozildi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24600" y="2240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Yopildi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74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Noyabr</a:t>
            </a:r>
            <a:endParaRPr lang="en-US" sz="2000" dirty="0"/>
          </a:p>
        </p:txBody>
      </p:sp>
      <p:sp>
        <p:nvSpPr>
          <p:cNvPr id="10" name="debt 1"/>
          <p:cNvSpPr/>
          <p:nvPr/>
        </p:nvSpPr>
        <p:spPr>
          <a:xfrm>
            <a:off x="2194560" y="3474720"/>
            <a:ext cx="7315200" cy="731520"/>
          </a:xfrm>
          <a:prstGeom prst="rect">
            <a:avLst/>
          </a:prstGeom>
          <a:solidFill>
            <a:srgbClr val="FAEDEA"/>
          </a:solidFill>
          <a:ln w="12700">
            <a:solidFill>
              <a:srgbClr val="FAEDEA"/>
            </a:solidFill>
            <a:prstDash val="solid"/>
          </a:ln>
        </p:spPr>
      </p:sp>
      <p:sp>
        <p:nvSpPr>
          <p:cNvPr id="11" name="paid 1"/>
          <p:cNvSpPr/>
          <p:nvPr/>
        </p:nvSpPr>
        <p:spPr>
          <a:xfrm>
            <a:off x="2194560" y="3474720"/>
            <a:ext cx="5852160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77440" y="3474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1 200 000 yozildi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73836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Qoldi: 300 000</a:t>
            </a:r>
            <a:endParaRPr lang="en-US" sz="1600" dirty="0"/>
          </a:p>
        </p:txBody>
      </p:sp>
      <p:sp>
        <p:nvSpPr>
          <p:cNvPr id="14" name="alloc note 0"/>
          <p:cNvSpPr/>
          <p:nvPr/>
        </p:nvSpPr>
        <p:spPr>
          <a:xfrm>
            <a:off x="548640" y="475488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Eng eski qarzdan boshlab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2852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Pul avval oktabrni, keyin noyabrni yopadi.</a:t>
            </a:r>
            <a:endParaRPr lang="en-US" sz="1400" dirty="0"/>
          </a:p>
        </p:txBody>
      </p:sp>
      <p:sp>
        <p:nvSpPr>
          <p:cNvPr id="17" name="alloc note 1"/>
          <p:cNvSpPr/>
          <p:nvPr/>
        </p:nvSpPr>
        <p:spPr>
          <a:xfrm>
            <a:off x="4297680" y="475488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Oldindan ko'rsatiladi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52852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Buxgalter saqlashdan oldin taqsimotni ko'radi; o'zgartirsa, sababini yozadi.</a:t>
            </a:r>
            <a:endParaRPr lang="en-US" sz="1400" dirty="0"/>
          </a:p>
        </p:txBody>
      </p:sp>
      <p:sp>
        <p:nvSpPr>
          <p:cNvPr id="20" name="alloc note 2"/>
          <p:cNvSpPr/>
          <p:nvPr/>
        </p:nvSpPr>
        <p:spPr>
          <a:xfrm>
            <a:off x="8046720" y="475488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Ortiqcha pul yo'qolmaydi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52852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«Oldindan to'lov» bo'lib keyingi oyga yoziladi.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Pul qayerdan keladi</a:t>
            </a:r>
            <a:endParaRPr lang="en-US" sz="3600" dirty="0"/>
          </a:p>
        </p:txBody>
      </p:sp>
      <p:sp>
        <p:nvSpPr>
          <p:cNvPr id="3" name="income card 0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come 0 circle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ncome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9184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Kassaga naqd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286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Buxgalter summani kiritadi, kvitansiya chiqadi. Kvitansiyada ota-onaning 7 xonali hisob raqami bor.</a:t>
            </a:r>
            <a:endParaRPr lang="en-US" sz="1500" dirty="0"/>
          </a:p>
        </p:txBody>
      </p:sp>
      <p:sp>
        <p:nvSpPr>
          <p:cNvPr id="8" name="income card 1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ncome 1 circle"/>
          <p:cNvSpPr/>
          <p:nvPr/>
        </p:nvSpPr>
        <p:spPr>
          <a:xfrm>
            <a:off x="6446520" y="173736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0" name="incom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1" y="191841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orqali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2286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Ota-ona hisob raqami bilan to'laydi. Pul o'zi qarzga yoziladi. Raqam xato bo'lsa, pul yechilmaydi.</a:t>
            </a:r>
            <a:endParaRPr lang="en-US" sz="1500" dirty="0"/>
          </a:p>
        </p:txBody>
      </p:sp>
      <p:sp>
        <p:nvSpPr>
          <p:cNvPr id="13" name="income card 2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ncome 2 circle"/>
          <p:cNvSpPr/>
          <p:nvPr/>
        </p:nvSpPr>
        <p:spPr>
          <a:xfrm>
            <a:off x="822960" y="40690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incom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" y="4250131"/>
            <a:ext cx="460858" cy="46085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7452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o'tkazmasi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1874520" y="4617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Bank ko'chirmasi (1C yoki Excel) yuklanadi. Tizim kimniki ekanini taxmin qiladi, buxgalter tasdiqlaydi.</a:t>
            </a:r>
            <a:endParaRPr lang="en-US" sz="1500" dirty="0"/>
          </a:p>
        </p:txBody>
      </p:sp>
      <p:sp>
        <p:nvSpPr>
          <p:cNvPr id="18" name="income card 3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ncome 3 circle"/>
          <p:cNvSpPr/>
          <p:nvPr/>
        </p:nvSpPr>
        <p:spPr>
          <a:xfrm>
            <a:off x="6446520" y="40690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0" name="incom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1" y="4250131"/>
            <a:ext cx="460858" cy="46085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9808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Homiylik va grant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7498080" y="46177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Faqat ko'rsatilgan maqsadga sarflanadi — tizim boshqa maqsadga sarflashni to'xtatadi.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Pul faqat tasdiq bilan chiqadi</a:t>
            </a:r>
            <a:endParaRPr lang="en-US" sz="3600" dirty="0"/>
          </a:p>
        </p:txBody>
      </p:sp>
      <p:sp>
        <p:nvSpPr>
          <p:cNvPr id="3" name="expense step 0"/>
          <p:cNvSpPr/>
          <p:nvPr/>
        </p:nvSpPr>
        <p:spPr>
          <a:xfrm>
            <a:off x="548640" y="1508760"/>
            <a:ext cx="2468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Zayavka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Buxgalter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Summa, maqsad, hujjat</a:t>
            </a:r>
            <a:endParaRPr lang="en-US" sz="1400" dirty="0"/>
          </a:p>
        </p:txBody>
      </p:sp>
      <p:sp>
        <p:nvSpPr>
          <p:cNvPr id="7" name="expense arrow 0"/>
          <p:cNvSpPr/>
          <p:nvPr/>
        </p:nvSpPr>
        <p:spPr>
          <a:xfrm>
            <a:off x="3054096" y="2423160"/>
            <a:ext cx="347472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expense step 1"/>
          <p:cNvSpPr/>
          <p:nvPr/>
        </p:nvSpPr>
        <p:spPr>
          <a:xfrm>
            <a:off x="3429000" y="1508760"/>
            <a:ext cx="2468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Tekshiruv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Tizim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Byudjetda joy bormi?</a:t>
            </a:r>
            <a:endParaRPr lang="en-US" sz="1400" dirty="0"/>
          </a:p>
        </p:txBody>
      </p:sp>
      <p:sp>
        <p:nvSpPr>
          <p:cNvPr id="12" name="expense arrow 1"/>
          <p:cNvSpPr/>
          <p:nvPr/>
        </p:nvSpPr>
        <p:spPr>
          <a:xfrm>
            <a:off x="5934456" y="2423160"/>
            <a:ext cx="347472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expense step 2"/>
          <p:cNvSpPr/>
          <p:nvPr/>
        </p:nvSpPr>
        <p:spPr>
          <a:xfrm>
            <a:off x="6309360" y="1508760"/>
            <a:ext cx="2468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Tasdiq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Direktor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Katta summa — bosh boshqaruvchi</a:t>
            </a:r>
            <a:endParaRPr lang="en-US" sz="1400" dirty="0"/>
          </a:p>
        </p:txBody>
      </p:sp>
      <p:sp>
        <p:nvSpPr>
          <p:cNvPr id="17" name="expense arrow 2"/>
          <p:cNvSpPr/>
          <p:nvPr/>
        </p:nvSpPr>
        <p:spPr>
          <a:xfrm>
            <a:off x="8814816" y="2423160"/>
            <a:ext cx="347472" cy="4114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expense step 3"/>
          <p:cNvSpPr/>
          <p:nvPr/>
        </p:nvSpPr>
        <p:spPr>
          <a:xfrm>
            <a:off x="9189720" y="1508760"/>
            <a:ext cx="2468880" cy="219456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To'lov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2194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Kassir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651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Pul beriladi, hujjat biriktiriladi</a:t>
            </a:r>
            <a:endParaRPr lang="en-US" sz="1400" dirty="0"/>
          </a:p>
        </p:txBody>
      </p:sp>
      <p:sp>
        <p:nvSpPr>
          <p:cNvPr id="22" name="expense rule 0 circle"/>
          <p:cNvSpPr/>
          <p:nvPr/>
        </p:nvSpPr>
        <p:spPr>
          <a:xfrm>
            <a:off x="548640" y="416052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expense rule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4311396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1732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Ikki xil odam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Tuzgan tasdiqlamaydi, tasdiqlagan to'lamaydi</a:t>
            </a:r>
            <a:endParaRPr lang="en-US" sz="1400" dirty="0"/>
          </a:p>
        </p:txBody>
      </p:sp>
      <p:sp>
        <p:nvSpPr>
          <p:cNvPr id="26" name="expense rule 1 circle"/>
          <p:cNvSpPr/>
          <p:nvPr/>
        </p:nvSpPr>
        <p:spPr>
          <a:xfrm>
            <a:off x="4297680" y="416052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7" name="expense rul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4311396"/>
            <a:ext cx="384048" cy="38404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16636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Kassa minusga tushmaydi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5166360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Kassada yo'q pulni tizim berdirmaydi</a:t>
            </a:r>
            <a:endParaRPr lang="en-US" sz="1400" dirty="0"/>
          </a:p>
        </p:txBody>
      </p:sp>
      <p:sp>
        <p:nvSpPr>
          <p:cNvPr id="30" name="expense rule 2 circle"/>
          <p:cNvSpPr/>
          <p:nvPr/>
        </p:nvSpPr>
        <p:spPr>
          <a:xfrm>
            <a:off x="8046720" y="4160520"/>
            <a:ext cx="685800" cy="685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1" name="expense rul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4311396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91540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Hamma narsa yoziladi</a:t>
            </a:r>
            <a:endParaRPr lang="en-US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8915400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Kim, qachon, nima uchun — zayavka tarixida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Byudjet ortiqcha xarajatni to'xtatadi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Misol: «Oziq-ovqat» uchun oylik reja 20 000 000 so'm</a:t>
            </a:r>
            <a:endParaRPr lang="en-US" sz="1600" dirty="0"/>
          </a:p>
        </p:txBody>
      </p:sp>
      <p:sp>
        <p:nvSpPr>
          <p:cNvPr id="4" name="zone ok"/>
          <p:cNvSpPr/>
          <p:nvPr/>
        </p:nvSpPr>
        <p:spPr>
          <a:xfrm>
            <a:off x="548640" y="2194560"/>
            <a:ext cx="8851392" cy="822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zone warn"/>
          <p:cNvSpPr/>
          <p:nvPr/>
        </p:nvSpPr>
        <p:spPr>
          <a:xfrm>
            <a:off x="9400032" y="2194560"/>
            <a:ext cx="2212848" cy="822960"/>
          </a:xfrm>
          <a:prstGeom prst="rect">
            <a:avLst/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0%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42832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80%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69848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100%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94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Bemalol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582912" y="2194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Ehtiyot</a:t>
            </a:r>
            <a:endParaRPr lang="en-US" sz="1800" dirty="0"/>
          </a:p>
        </p:txBody>
      </p:sp>
      <p:sp>
        <p:nvSpPr>
          <p:cNvPr id="11" name="zone card 0"/>
          <p:cNvSpPr/>
          <p:nvPr/>
        </p:nvSpPr>
        <p:spPr>
          <a:xfrm>
            <a:off x="548640" y="3749040"/>
            <a:ext cx="3474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0–80%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434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Zayavka odatdagidek davom etadi.</a:t>
            </a:r>
            <a:endParaRPr lang="en-US" sz="1500" dirty="0"/>
          </a:p>
        </p:txBody>
      </p:sp>
      <p:sp>
        <p:nvSpPr>
          <p:cNvPr id="14" name="zone card 1"/>
          <p:cNvSpPr/>
          <p:nvPr/>
        </p:nvSpPr>
        <p:spPr>
          <a:xfrm>
            <a:off x="4297680" y="37490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80–100%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434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Ogohlantirish chiqadi, lekin to'xtatilmaydi.</a:t>
            </a:r>
            <a:endParaRPr lang="en-US" sz="1500" dirty="0"/>
          </a:p>
        </p:txBody>
      </p:sp>
      <p:sp>
        <p:nvSpPr>
          <p:cNvPr id="17" name="zone card 2"/>
          <p:cNvSpPr/>
          <p:nvPr/>
        </p:nvSpPr>
        <p:spPr>
          <a:xfrm>
            <a:off x="8046720" y="37490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AEDEA"/>
          </a:solidFill>
          <a:ln w="12700">
            <a:solidFill>
              <a:srgbClr val="FAED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dan ortiq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4434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Zayavka to'xtatiladi. Blokni faqat bosh boshqaruvchi sababini yozib ochadi.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Byudjetni buxgalter tuzadi, direktor yuboradi, bosh boshqaruvchi tasdiqlaydi. Tasdiqlangan reja o'zgarmaydi — o'zgartirish yangi versiya bo'ladi.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Hech narsa o'chirilmaydi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Misol: buxgalter 350 000 o'rniga 530 000 deb yozib qo'ydi</a:t>
            </a:r>
            <a:endParaRPr lang="en-US" sz="1600" dirty="0"/>
          </a:p>
        </p:txBody>
      </p:sp>
      <p:sp>
        <p:nvSpPr>
          <p:cNvPr id="4" name="ledger row 0"/>
          <p:cNvSpPr/>
          <p:nvPr/>
        </p:nvSpPr>
        <p:spPr>
          <a:xfrm>
            <a:off x="548640" y="1920240"/>
            <a:ext cx="6400800" cy="731520"/>
          </a:xfrm>
          <a:prstGeom prst="roundRect">
            <a:avLst>
              <a:gd name="adj" fmla="val 15000"/>
            </a:avLst>
          </a:prstGeom>
          <a:solidFill>
            <a:srgbClr val="FAEDEA"/>
          </a:solidFill>
          <a:ln w="12700">
            <a:solidFill>
              <a:srgbClr val="FAED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Kvitansiya № 1042 · naqd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920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Xato yozuv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+530 000</a:t>
            </a:r>
            <a:endParaRPr lang="en-US" sz="1800" dirty="0"/>
          </a:p>
        </p:txBody>
      </p:sp>
      <p:sp>
        <p:nvSpPr>
          <p:cNvPr id="8" name="ledger row 1"/>
          <p:cNvSpPr/>
          <p:nvPr/>
        </p:nvSpPr>
        <p:spPr>
          <a:xfrm>
            <a:off x="548640" y="2788920"/>
            <a:ext cx="6400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88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Storno № 1042 · direktor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7889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Bekor qiladi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788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−530 000</a:t>
            </a:r>
            <a:endParaRPr lang="en-US" sz="1800" dirty="0"/>
          </a:p>
        </p:txBody>
      </p:sp>
      <p:sp>
        <p:nvSpPr>
          <p:cNvPr id="12" name="ledger row 2"/>
          <p:cNvSpPr/>
          <p:nvPr/>
        </p:nvSpPr>
        <p:spPr>
          <a:xfrm>
            <a:off x="548640" y="3657600"/>
            <a:ext cx="64008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6576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Kvitansiya № 1043 · naqd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6576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To'g'ri yozuv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657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+350 000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Qarz va kassa to'g'ri, tarix esa to'liq: kim, qachon, nima uchun tuzatgani ko'rinadi.</a:t>
            </a:r>
            <a:endParaRPr lang="en-US" sz="1500" dirty="0"/>
          </a:p>
        </p:txBody>
      </p:sp>
      <p:sp>
        <p:nvSpPr>
          <p:cNvPr id="17" name="close card"/>
          <p:cNvSpPr/>
          <p:nvPr/>
        </p:nvSpPr>
        <p:spPr>
          <a:xfrm>
            <a:off x="7406640" y="1325880"/>
            <a:ext cx="4206240" cy="480060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clo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0020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7266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Oy yopilganda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283464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Buxgalter boshlaydi, direktor tasdiqlaydi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Yopilgan oyga hech narsa yozilmaydi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Hisobot o'sha kundagidek saqlanadi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Qayta ochish — faqat bosh boshqaruvchi, sabab bilan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Ota-onalar uchun — Telegramda</a:t>
            </a:r>
            <a:endParaRPr lang="en-US" sz="3600" dirty="0"/>
          </a:p>
        </p:txBody>
      </p:sp>
      <p:sp>
        <p:nvSpPr>
          <p:cNvPr id="3" name="phone body"/>
          <p:cNvSpPr/>
          <p:nvPr/>
        </p:nvSpPr>
        <p:spPr>
          <a:xfrm>
            <a:off x="822960" y="1325880"/>
            <a:ext cx="3017520" cy="4937760"/>
          </a:xfrm>
          <a:prstGeom prst="roundRect">
            <a:avLst>
              <a:gd name="adj" fmla="val 1060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hone screen"/>
          <p:cNvSpPr/>
          <p:nvPr/>
        </p:nvSpPr>
        <p:spPr>
          <a:xfrm>
            <a:off x="960120" y="1463040"/>
            <a:ext cx="2743200" cy="466344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phone bar"/>
          <p:cNvSpPr/>
          <p:nvPr/>
        </p:nvSpPr>
        <p:spPr>
          <a:xfrm>
            <a:off x="960120" y="1691640"/>
            <a:ext cx="2743200" cy="5029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Quyosh bog'chasi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Qarzdorlik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1 100 000 so'm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Oktabr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246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300 000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611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Noyabr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611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800 000</a:t>
            </a:r>
            <a:endParaRPr lang="en-US" sz="1300" dirty="0"/>
          </a:p>
        </p:txBody>
      </p:sp>
      <p:sp>
        <p:nvSpPr>
          <p:cNvPr id="13" name="pay button"/>
          <p:cNvSpPr/>
          <p:nvPr/>
        </p:nvSpPr>
        <p:spPr>
          <a:xfrm>
            <a:off x="1143000" y="420624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To'lash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Click orqali · hisob raqami: 4021378</a:t>
            </a:r>
            <a:endParaRPr lang="en-US" sz="1100" dirty="0"/>
          </a:p>
        </p:txBody>
      </p:sp>
      <p:sp>
        <p:nvSpPr>
          <p:cNvPr id="16" name="tg 0 circle"/>
          <p:cNvSpPr/>
          <p:nvPr/>
        </p:nvSpPr>
        <p:spPr>
          <a:xfrm>
            <a:off x="4572000" y="1554480"/>
            <a:ext cx="777240" cy="777240"/>
          </a:xfrm>
          <a:prstGeom prst="ellipse">
            <a:avLst/>
          </a:prstGeom>
          <a:solidFill>
            <a:srgbClr val="E7F1F9"/>
          </a:solidFill>
          <a:ln w="12700">
            <a:solidFill>
              <a:srgbClr val="E7F1F9"/>
            </a:solidFill>
            <a:prstDash val="solid"/>
          </a:ln>
        </p:spPr>
      </p:sp>
      <p:pic>
        <p:nvPicPr>
          <p:cNvPr id="17" name="tg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2993" y="1725473"/>
            <a:ext cx="435254" cy="43525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577840" y="1554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Parolsiz, hech narsa o'rnatmasdan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20574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Buxgalter bir martalik havola beradi — ota-ona uni ochadi va bog'lanadi.</a:t>
            </a:r>
            <a:endParaRPr lang="en-US" sz="1600" dirty="0"/>
          </a:p>
        </p:txBody>
      </p:sp>
      <p:sp>
        <p:nvSpPr>
          <p:cNvPr id="20" name="tg 1 circle"/>
          <p:cNvSpPr/>
          <p:nvPr/>
        </p:nvSpPr>
        <p:spPr>
          <a:xfrm>
            <a:off x="4572000" y="3017520"/>
            <a:ext cx="777240" cy="777240"/>
          </a:xfrm>
          <a:prstGeom prst="ellipse">
            <a:avLst/>
          </a:prstGeom>
          <a:solidFill>
            <a:srgbClr val="E7F1F9"/>
          </a:solidFill>
          <a:ln w="12700">
            <a:solidFill>
              <a:srgbClr val="E7F1F9"/>
            </a:solidFill>
            <a:prstDash val="solid"/>
          </a:ln>
        </p:spPr>
      </p:sp>
      <p:pic>
        <p:nvPicPr>
          <p:cNvPr id="21" name="tg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993" y="3188513"/>
            <a:ext cx="435254" cy="43525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577840" y="3017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Faqat o'z farzandlari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5577840" y="35204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Qarz, har oy nima hisoblangani, to'lovlar va kvitansiyalar.</a:t>
            </a:r>
            <a:endParaRPr lang="en-US" sz="1600" dirty="0"/>
          </a:p>
        </p:txBody>
      </p:sp>
      <p:sp>
        <p:nvSpPr>
          <p:cNvPr id="24" name="tg 2 circle"/>
          <p:cNvSpPr/>
          <p:nvPr/>
        </p:nvSpPr>
        <p:spPr>
          <a:xfrm>
            <a:off x="4572000" y="4480560"/>
            <a:ext cx="777240" cy="777240"/>
          </a:xfrm>
          <a:prstGeom prst="ellipse">
            <a:avLst/>
          </a:prstGeom>
          <a:solidFill>
            <a:srgbClr val="E7F1F9"/>
          </a:solidFill>
          <a:ln w="12700">
            <a:solidFill>
              <a:srgbClr val="E7F1F9"/>
            </a:solidFill>
            <a:prstDash val="solid"/>
          </a:ln>
        </p:spPr>
      </p:sp>
      <p:pic>
        <p:nvPicPr>
          <p:cNvPr id="25" name="tg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993" y="4651553"/>
            <a:ext cx="435254" cy="43525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577840" y="4480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Eslatmalar o'zi keladi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5577840" y="4983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Qarz bo'lsa — Telegramga, ulanmagan bo'lsa — SMS. Kuniga bir martadan ko'p emas.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Bir nechta bog'changiz bo'lsa</a:t>
            </a:r>
            <a:endParaRPr lang="en-US" sz="3600" dirty="0"/>
          </a:p>
        </p:txBody>
      </p:sp>
      <p:sp>
        <p:nvSpPr>
          <p:cNvPr id="3" name="net line 0"/>
          <p:cNvSpPr/>
          <p:nvPr/>
        </p:nvSpPr>
        <p:spPr>
          <a:xfrm>
            <a:off x="1965960" y="1920240"/>
            <a:ext cx="4114800" cy="10058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4" name="net line 1"/>
          <p:cNvSpPr/>
          <p:nvPr/>
        </p:nvSpPr>
        <p:spPr>
          <a:xfrm flipH="1">
            <a:off x="1965960" y="2926080"/>
            <a:ext cx="4114800" cy="8229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net line 2"/>
          <p:cNvSpPr/>
          <p:nvPr/>
        </p:nvSpPr>
        <p:spPr>
          <a:xfrm flipH="1">
            <a:off x="6080760" y="1920240"/>
            <a:ext cx="4114800" cy="10058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6" name="net line 3"/>
          <p:cNvSpPr/>
          <p:nvPr/>
        </p:nvSpPr>
        <p:spPr>
          <a:xfrm>
            <a:off x="6080760" y="2926080"/>
            <a:ext cx="4114800" cy="8229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7" name="kindergarten 0"/>
          <p:cNvSpPr/>
          <p:nvPr/>
        </p:nvSpPr>
        <p:spPr>
          <a:xfrm>
            <a:off x="822960" y="146304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kg 0 circle"/>
          <p:cNvSpPr/>
          <p:nvPr/>
        </p:nvSpPr>
        <p:spPr>
          <a:xfrm>
            <a:off x="960120" y="160020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9" name="kg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1741018"/>
            <a:ext cx="358445" cy="35844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14630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1-bog'cha</a:t>
            </a:r>
            <a:endParaRPr lang="en-US" sz="1600" dirty="0"/>
          </a:p>
        </p:txBody>
      </p:sp>
      <p:sp>
        <p:nvSpPr>
          <p:cNvPr id="11" name="kindergarten 1"/>
          <p:cNvSpPr/>
          <p:nvPr/>
        </p:nvSpPr>
        <p:spPr>
          <a:xfrm>
            <a:off x="822960" y="329184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kg 1 circle"/>
          <p:cNvSpPr/>
          <p:nvPr/>
        </p:nvSpPr>
        <p:spPr>
          <a:xfrm>
            <a:off x="960120" y="342900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kg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38" y="356981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37360" y="3291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2-bog'cha</a:t>
            </a:r>
            <a:endParaRPr lang="en-US" sz="1600" dirty="0"/>
          </a:p>
        </p:txBody>
      </p:sp>
      <p:sp>
        <p:nvSpPr>
          <p:cNvPr id="15" name="kindergarten 2"/>
          <p:cNvSpPr/>
          <p:nvPr/>
        </p:nvSpPr>
        <p:spPr>
          <a:xfrm>
            <a:off x="9052560" y="146304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kg 2 circle"/>
          <p:cNvSpPr/>
          <p:nvPr/>
        </p:nvSpPr>
        <p:spPr>
          <a:xfrm>
            <a:off x="9189720" y="160020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kg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538" y="174101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966960" y="14630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3-bog'cha</a:t>
            </a:r>
            <a:endParaRPr lang="en-US" sz="1600" dirty="0"/>
          </a:p>
        </p:txBody>
      </p:sp>
      <p:sp>
        <p:nvSpPr>
          <p:cNvPr id="19" name="kindergarten 3"/>
          <p:cNvSpPr/>
          <p:nvPr/>
        </p:nvSpPr>
        <p:spPr>
          <a:xfrm>
            <a:off x="9052560" y="3291840"/>
            <a:ext cx="22860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kg 3 circle"/>
          <p:cNvSpPr/>
          <p:nvPr/>
        </p:nvSpPr>
        <p:spPr>
          <a:xfrm>
            <a:off x="9189720" y="342900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kg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538" y="356981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66960" y="3291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4-bog'cha</a:t>
            </a:r>
            <a:endParaRPr lang="en-US" sz="1600" dirty="0"/>
          </a:p>
        </p:txBody>
      </p:sp>
      <p:sp>
        <p:nvSpPr>
          <p:cNvPr id="23" name="hub"/>
          <p:cNvSpPr/>
          <p:nvPr/>
        </p:nvSpPr>
        <p:spPr>
          <a:xfrm>
            <a:off x="4937760" y="2377440"/>
            <a:ext cx="228600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hub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65176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760720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Tarmoq ko'rinishi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4709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Har bir bog'chaning o'z bazasi, xodimlari va boti bor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Rahbar hammasini bitta sahifada ko'radi: qarz, kirim, byudjet ijrosi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Bolalarning ismlari markazga chiqmaydi — faqat jami raqamlar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Bitta login bilan barcha bog'chalarga kiriladi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Ma'lumotlaringiz xavfsiz</a:t>
            </a:r>
            <a:endParaRPr lang="en-US" sz="3600" dirty="0"/>
          </a:p>
        </p:txBody>
      </p:sp>
      <p:sp>
        <p:nvSpPr>
          <p:cNvPr id="3" name="security card 0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curity 0 circle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security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8425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Shaxsiy parol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Birinchi kirishda har kim o'z parolini qo'yadi. Rahbarlar telefon kodi bilan ham kiradi.</a:t>
            </a:r>
            <a:endParaRPr lang="en-US" sz="1300" dirty="0"/>
          </a:p>
        </p:txBody>
      </p:sp>
      <p:sp>
        <p:nvSpPr>
          <p:cNvPr id="8" name="security card 1"/>
          <p:cNvSpPr/>
          <p:nvPr/>
        </p:nvSpPr>
        <p:spPr>
          <a:xfrm>
            <a:off x="429768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ecurity 1 circle"/>
          <p:cNvSpPr/>
          <p:nvPr/>
        </p:nvSpPr>
        <p:spPr>
          <a:xfrm>
            <a:off x="4526280" y="169164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0" name="security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18425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Ruxsat server tekshiradi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Tugma yashirilgani yetmaydi — ruxsatsiz so'rovni server rad etadi.</a:t>
            </a:r>
            <a:endParaRPr lang="en-US" sz="1300" dirty="0"/>
          </a:p>
        </p:txBody>
      </p:sp>
      <p:sp>
        <p:nvSpPr>
          <p:cNvPr id="13" name="security card 2"/>
          <p:cNvSpPr/>
          <p:nvPr/>
        </p:nvSpPr>
        <p:spPr>
          <a:xfrm>
            <a:off x="804672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ecurity 2 circle"/>
          <p:cNvSpPr/>
          <p:nvPr/>
        </p:nvSpPr>
        <p:spPr>
          <a:xfrm>
            <a:off x="8275320" y="169164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security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196" y="184251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bir harakat yoziladi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880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Kim, qachon, nima qilgani. O'chirish yo'q.</a:t>
            </a:r>
            <a:endParaRPr lang="en-US" sz="1300" dirty="0"/>
          </a:p>
        </p:txBody>
      </p:sp>
      <p:sp>
        <p:nvSpPr>
          <p:cNvPr id="18" name="security card 3"/>
          <p:cNvSpPr/>
          <p:nvPr/>
        </p:nvSpPr>
        <p:spPr>
          <a:xfrm>
            <a:off x="54864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ecurity 3 circle"/>
          <p:cNvSpPr/>
          <p:nvPr/>
        </p:nvSpPr>
        <p:spPr>
          <a:xfrm>
            <a:off x="777240" y="406908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0" name="security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21995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Xodim ketsa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5257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Hisobi o'chiriladi va bir daqiqada kuchga kiradi. Ishlari tarixi qoladi.</a:t>
            </a:r>
            <a:endParaRPr lang="en-US" sz="1300" dirty="0"/>
          </a:p>
        </p:txBody>
      </p:sp>
      <p:sp>
        <p:nvSpPr>
          <p:cNvPr id="23" name="security card 4"/>
          <p:cNvSpPr/>
          <p:nvPr/>
        </p:nvSpPr>
        <p:spPr>
          <a:xfrm>
            <a:off x="429768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ecurity 4 circle"/>
          <p:cNvSpPr/>
          <p:nvPr/>
        </p:nvSpPr>
        <p:spPr>
          <a:xfrm>
            <a:off x="4526280" y="406908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5" name="security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4219956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2628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Zaxira nusxa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5257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Uzluksiz zaxira, istalgan daqiqaga qaytarish. Har hafta tiklash sinaladi.</a:t>
            </a:r>
            <a:endParaRPr lang="en-US" sz="1300" dirty="0"/>
          </a:p>
        </p:txBody>
      </p:sp>
      <p:sp>
        <p:nvSpPr>
          <p:cNvPr id="28" name="security card 5"/>
          <p:cNvSpPr/>
          <p:nvPr/>
        </p:nvSpPr>
        <p:spPr>
          <a:xfrm>
            <a:off x="804672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ecurity 5 circle"/>
          <p:cNvSpPr/>
          <p:nvPr/>
        </p:nvSpPr>
        <p:spPr>
          <a:xfrm>
            <a:off x="8275320" y="406908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0" name="security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196" y="421995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75320" y="4846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Bog'chalar ajratilgan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5257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Har bog'chaning alohida bazasi — biri boshqasini ocha olmaydi.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Daftarga o'tish — 8 qadam</a:t>
            </a:r>
            <a:endParaRPr lang="en-US" sz="3600" dirty="0"/>
          </a:p>
        </p:txBody>
      </p:sp>
      <p:sp>
        <p:nvSpPr>
          <p:cNvPr id="3" name="step card 0"/>
          <p:cNvSpPr/>
          <p:nvPr/>
        </p:nvSpPr>
        <p:spPr>
          <a:xfrm>
            <a:off x="548640" y="146304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Bog'cha sozlanadi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O'quv yili, ta'til, ish kunlari</a:t>
            </a:r>
            <a:endParaRPr lang="en-US" sz="1400" dirty="0"/>
          </a:p>
        </p:txBody>
      </p:sp>
      <p:sp>
        <p:nvSpPr>
          <p:cNvPr id="7" name="step card 1"/>
          <p:cNvSpPr/>
          <p:nvPr/>
        </p:nvSpPr>
        <p:spPr>
          <a:xfrm>
            <a:off x="3355848" y="146304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Xodimlar qo'shiladi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Direktor, buxgalter, kassir</a:t>
            </a:r>
            <a:endParaRPr lang="en-US" sz="1400" dirty="0"/>
          </a:p>
        </p:txBody>
      </p:sp>
      <p:sp>
        <p:nvSpPr>
          <p:cNvPr id="11" name="step card 2"/>
          <p:cNvSpPr/>
          <p:nvPr/>
        </p:nvSpPr>
        <p:spPr>
          <a:xfrm>
            <a:off x="6163056" y="146304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1656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Guruhlar va narxlar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Qaysi oydan amal qilishi bilan</a:t>
            </a:r>
            <a:endParaRPr lang="en-US" sz="1400" dirty="0"/>
          </a:p>
        </p:txBody>
      </p:sp>
      <p:sp>
        <p:nvSpPr>
          <p:cNvPr id="15" name="step card 3"/>
          <p:cNvSpPr/>
          <p:nvPr/>
        </p:nvSpPr>
        <p:spPr>
          <a:xfrm>
            <a:off x="8970264" y="146304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98864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Kassa va bank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Bugungi qoldiq kiritiladi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548640" y="370332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Bolalar Excel'dan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Shablon to'ldirilib yuklanadi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3355848" y="370332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84448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3584448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Eski qarzlar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584448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Qaysi oy uchun ekani bilan</a:t>
            </a:r>
            <a:endParaRPr lang="en-US" sz="1400" dirty="0"/>
          </a:p>
        </p:txBody>
      </p:sp>
      <p:sp>
        <p:nvSpPr>
          <p:cNvPr id="27" name="step card 6"/>
          <p:cNvSpPr/>
          <p:nvPr/>
        </p:nvSpPr>
        <p:spPr>
          <a:xfrm>
            <a:off x="6163056" y="370332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91656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6391656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Click va Telegram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391656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Ota-onalarga havola beriladi</a:t>
            </a:r>
            <a:endParaRPr lang="en-US" sz="1400" dirty="0"/>
          </a:p>
        </p:txBody>
      </p:sp>
      <p:sp>
        <p:nvSpPr>
          <p:cNvPr id="31" name="step card 7"/>
          <p:cNvSpPr/>
          <p:nvPr/>
        </p:nvSpPr>
        <p:spPr>
          <a:xfrm>
            <a:off x="8970264" y="3703320"/>
            <a:ext cx="2606040" cy="196596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98864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33" name="Text 31"/>
          <p:cNvSpPr txBox="1"/>
          <p:nvPr/>
        </p:nvSpPr>
        <p:spPr>
          <a:xfrm>
            <a:off x="9198864" y="4572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Birinchi oylik hisob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Shundan keyin hammasi o'zi yuradi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Excel'dan yuklashda tizim har bir qatorni tekshiradi: bitta xato bo'lsa ham hech narsa yozilmaydi, xatolar ko'rsatiladi.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Savollaringiz bormi?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Batafsil tushuntirish, kalkulyator va misollar saytda: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shaykhnazar.github.io/daftar-qollanma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ftar">
  <a:themeElements>
    <a:clrScheme name="Daftar">
      <a:dk1>
        <a:srgbClr val="161A17"/>
      </a:dk1>
      <a:lt1>
        <a:srgbClr val="FFFFFF"/>
      </a:lt1>
      <a:dk2>
        <a:srgbClr val="0E4227"/>
      </a:dk2>
      <a:lt2>
        <a:srgbClr val="F1F5EF"/>
      </a:lt2>
      <a:accent1>
        <a:srgbClr val="15603A"/>
      </a:accent1>
      <a:accent2>
        <a:srgbClr val="8A6108"/>
      </a:accent2>
      <a:accent3>
        <a:srgbClr val="A32A18"/>
      </a:accent3>
      <a:accent4>
        <a:srgbClr val="2A7AB8"/>
      </a:accent4>
      <a:accent5>
        <a:srgbClr val="4C554E"/>
      </a:accent5>
      <a:accent6>
        <a:srgbClr val="B9D2C3"/>
      </a:accent6>
      <a:hlink>
        <a:srgbClr val="15603A"/>
      </a:hlink>
      <a:folHlink>
        <a:srgbClr val="0E4227"/>
      </a:folHlink>
    </a:clrScheme>
    <a:fontScheme name="Daft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Daftar — bog'chalar uchun taqdimot</dc:title>
  <dc:subject>PptxGenJS Presentation</dc:subject>
  <dc:creator>Daftar</dc:creator>
  <cp:lastModifiedBy>Daftar</cp:lastModifiedBy>
  <cp:revision>1</cp:revision>
  <dcterms:created xsi:type="dcterms:W3CDTF">2026-10-03T08:59:11Z</dcterms:created>
  <dcterms:modified xsi:type="dcterms:W3CDTF">2026-10-03T08:59:11Z</dcterms:modified>
</cp:coreProperties>
</file>